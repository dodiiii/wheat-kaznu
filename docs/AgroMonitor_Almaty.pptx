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4A3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28000"/>
          </a:xfrm>
          <a:prstGeom prst="rect">
            <a:avLst/>
          </a:prstGeom>
          <a:solidFill>
            <a:srgbClr val="D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8B44A"/>
                </a:solidFill>
                <a:latin typeface="Segoe UI"/>
              </a:rPr>
              <a:t>АГРОМОНИТОРИНГ · IoT ·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2EFE0"/>
                </a:solidFill>
                <a:latin typeface="Segoe UI"/>
              </a:rPr>
              <a:t>AgroMonitor Almaty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2EFE0"/>
                </a:solidFill>
                <a:latin typeface="Segoe UI"/>
              </a:rPr>
              <a:t>Система мониторинга пшеничных полей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B8B49C"/>
                </a:solidFill>
                <a:latin typeface="Segoe UI"/>
              </a:rPr>
              <a:t>Шелекская долина · Енбекшиказахский район · Алматинская область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8B8C75"/>
                </a:solidFill>
                <a:latin typeface="Segoe UI"/>
              </a:rPr>
              <a:t>Демонстрация на реальных данных сезона вегетации 2025 (Open-Meteo / ERA5-Land)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92040"/>
            <a:ext cx="1965960" cy="96012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8B44A"/>
                </a:solidFill>
                <a:latin typeface="Segoe U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49C"/>
                </a:solidFill>
                <a:latin typeface="Segoe UI"/>
              </a:rPr>
              <a:t>полей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2953512" y="4892040"/>
            <a:ext cx="1965960" cy="96012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502920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8B44A"/>
                </a:solidFill>
                <a:latin typeface="Segoe UI"/>
              </a:rPr>
              <a:t>605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49C"/>
                </a:solidFill>
                <a:latin typeface="Segoe UI"/>
              </a:rPr>
              <a:t>гектаров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4064" y="4892040"/>
            <a:ext cx="1965960" cy="96012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502920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8B44A"/>
                </a:solidFill>
                <a:latin typeface="Segoe UI"/>
              </a:rPr>
              <a:t>153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49C"/>
                </a:solidFill>
                <a:latin typeface="Segoe UI"/>
              </a:rPr>
              <a:t>дня сезона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4616" y="4892040"/>
            <a:ext cx="1965960" cy="96012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6" y="502920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8B44A"/>
                </a:solidFill>
                <a:latin typeface="Segoe UI"/>
              </a:rPr>
              <a:t>30+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49C"/>
                </a:solidFill>
                <a:latin typeface="Segoe UI"/>
              </a:rPr>
              <a:t>показателей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5168" y="4892040"/>
            <a:ext cx="1965960" cy="96012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8" y="5029200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8B44A"/>
                </a:solidFill>
                <a:latin typeface="Segoe U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49C"/>
                </a:solidFill>
                <a:latin typeface="Segoe UI"/>
              </a:rPr>
              <a:t>дашбордов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EFE0"/>
                </a:solidFill>
                <a:latin typeface="Segoe UI"/>
              </a:rPr>
              <a:t>Как устроена система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D8B44A"/>
                </a:solidFill>
                <a:latin typeface="Segoe UI"/>
              </a:rPr>
              <a:t>Один сезон, одна климатическая зона, единые ключи данных: дата · поле · широта · долгота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10515600" cy="841248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104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B44A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2EFE0"/>
                </a:solidFill>
                <a:latin typeface="Segoe UI"/>
              </a:rPr>
              <a:t>Реальные данные региона  </a:t>
            </a:r>
            <a:r>
              <a:rPr sz="1350" b="0" i="0">
                <a:solidFill>
                  <a:srgbClr val="B8B49C"/>
                </a:solidFill>
                <a:latin typeface="Segoe UI"/>
              </a:rPr>
              <a:t>Погода и динамика почвы — архив Open-Meteo (ERA5-Land) по координатам полей Шелекской долины. Именно такая погода стояла на этих участках в сезон 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53512"/>
            <a:ext cx="10515600" cy="841248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952"/>
            <a:ext cx="10104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B44A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2EFE0"/>
                </a:solidFill>
                <a:latin typeface="Segoe UI"/>
              </a:rPr>
              <a:t>Честный синтез  </a:t>
            </a:r>
            <a:r>
              <a:rPr sz="1350" b="0" i="0">
                <a:solidFill>
                  <a:srgbClr val="B8B49C"/>
                </a:solidFill>
                <a:latin typeface="Segoe UI"/>
              </a:rPr>
              <a:t>GDD, фазы BBCH, NDVI и прогноз урожая рассчитаны по открытым агроформулам; вредители и треки техники смоделированы правдоподобно и привязаны к тем же координатам.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49624"/>
            <a:ext cx="10515600" cy="841248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941064"/>
            <a:ext cx="10104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B44A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2EFE0"/>
                </a:solidFill>
                <a:latin typeface="Segoe UI"/>
              </a:rPr>
              <a:t>От общего к частному  </a:t>
            </a:r>
            <a:r>
              <a:rPr sz="1350" b="0" i="0">
                <a:solidFill>
                  <a:srgbClr val="B8B49C"/>
                </a:solidFill>
                <a:latin typeface="Segoe UI"/>
              </a:rPr>
              <a:t>Каждый дашборд отвечает на один вопрос и построен по схеме ① ИТОГ → ② ПРИЧИНЫ → ③ ДЕТАЛИ.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45736"/>
            <a:ext cx="10515600" cy="841248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37176"/>
            <a:ext cx="10104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B44A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2EFE0"/>
                </a:solidFill>
                <a:latin typeface="Segoe UI"/>
              </a:rPr>
              <a:t>Готовность к real-time  </a:t>
            </a:r>
            <a:r>
              <a:rPr sz="1350" b="0" i="0">
                <a:solidFill>
                  <a:srgbClr val="B8B49C"/>
                </a:solidFill>
                <a:latin typeface="Segoe UI"/>
              </a:rPr>
              <a:t>Сегодня — история; завтра ваши IoT-датчики пишут в те же ряды InfluxDB. Ни один дашборд не переделывается.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641848"/>
            <a:ext cx="10515600" cy="841248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733288"/>
            <a:ext cx="10104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B44A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2EFE0"/>
                </a:solidFill>
                <a:latin typeface="Segoe UI"/>
              </a:rPr>
              <a:t>Открытый стек  </a:t>
            </a:r>
            <a:r>
              <a:rPr sz="1350" b="0" i="0">
                <a:solidFill>
                  <a:srgbClr val="B8B49C"/>
                </a:solidFill>
                <a:latin typeface="Segoe UI"/>
              </a:rPr>
              <a:t>Grafana + InfluxDB, открытые лицензии, запуск одной командой docker compose up. Система принадлежит хозяйству.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1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0000"/>
          </a:xfrm>
          <a:prstGeom prst="rect">
            <a:avLst/>
          </a:prstGeom>
          <a:solidFill>
            <a:srgbClr val="D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2EFE0"/>
                </a:solidFill>
                <a:latin typeface="Segoe UI"/>
              </a:rPr>
              <a:t>🌾 Обзор хозяйства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8B44A"/>
                </a:solidFill>
                <a:latin typeface="Segoe UI"/>
              </a:rPr>
              <a:t>❓ Где нужно вмешаться прямо сейчас?   </a:t>
            </a:r>
            <a:r>
              <a:rPr sz="1250" b="0" i="0">
                <a:solidFill>
                  <a:srgbClr val="B8B49C"/>
                </a:solidFill>
                <a:latin typeface="Segoe UI"/>
              </a:rPr>
              <a:t>① ИТОГ — что делать   →   ② ПРИЧИНЫ — показатели + карта   →   ③ ДЕТАЛИ — динамика</a:t>
            </a:r>
          </a:p>
        </p:txBody>
      </p:sp>
      <p:pic>
        <p:nvPicPr>
          <p:cNvPr id="6" name="Picture 5" descr="das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427" y="1298448"/>
            <a:ext cx="532209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1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0000"/>
          </a:xfrm>
          <a:prstGeom prst="rect">
            <a:avLst/>
          </a:prstGeom>
          <a:solidFill>
            <a:srgbClr val="D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2EFE0"/>
                </a:solidFill>
                <a:latin typeface="Segoe UI"/>
              </a:rPr>
              <a:t>🌤️ Метео и почва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8B44A"/>
                </a:solidFill>
                <a:latin typeface="Segoe UI"/>
              </a:rPr>
              <a:t>❓ Какие условия сложились — в воздухе и в почве?   </a:t>
            </a:r>
            <a:r>
              <a:rPr sz="1250" b="0" i="0">
                <a:solidFill>
                  <a:srgbClr val="B8B49C"/>
                </a:solidFill>
                <a:latin typeface="Segoe UI"/>
              </a:rPr>
              <a:t>① ВОЗДУХ — погодный фон   →   ② ПОЧВА: ДИНАМИКА — корневая зона   →   ③ ПОЧВА: ПАСПОРТ</a:t>
            </a:r>
          </a:p>
        </p:txBody>
      </p:sp>
      <p:pic>
        <p:nvPicPr>
          <p:cNvPr id="6" name="Picture 5" descr="das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641" y="1298448"/>
            <a:ext cx="584367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1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0000"/>
          </a:xfrm>
          <a:prstGeom prst="rect">
            <a:avLst/>
          </a:prstGeom>
          <a:solidFill>
            <a:srgbClr val="D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2EFE0"/>
                </a:solidFill>
                <a:latin typeface="Segoe UI"/>
              </a:rPr>
              <a:t>🌱 Факторы роста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8B44A"/>
                </a:solidFill>
                <a:latin typeface="Segoe UI"/>
              </a:rPr>
              <a:t>❓ На какой стадии посев и куда движется урожай?   </a:t>
            </a:r>
            <a:r>
              <a:rPr sz="1250" b="0" i="0">
                <a:solidFill>
                  <a:srgbClr val="B8B49C"/>
                </a:solidFill>
                <a:latin typeface="Segoe UI"/>
              </a:rPr>
              <a:t>① ИТОГ — фаза + прогноз   →   ② ГЛАВНЫЙ ФАКТОР — тепло/GDD   →   ③ ДЕТАЛИ — связи факторов</a:t>
            </a:r>
          </a:p>
        </p:txBody>
      </p:sp>
      <p:pic>
        <p:nvPicPr>
          <p:cNvPr id="6" name="Picture 5" descr="das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86" y="1298448"/>
            <a:ext cx="64785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1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0000"/>
          </a:xfrm>
          <a:prstGeom prst="rect">
            <a:avLst/>
          </a:prstGeom>
          <a:solidFill>
            <a:srgbClr val="D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2EFE0"/>
                </a:solidFill>
                <a:latin typeface="Segoe UI"/>
              </a:rPr>
              <a:t>🐛 Вредители и болезни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8B44A"/>
                </a:solidFill>
                <a:latin typeface="Segoe UI"/>
              </a:rPr>
              <a:t>❓ Где и когда угроза — и что её разгоняет?   </a:t>
            </a:r>
            <a:r>
              <a:rPr sz="1250" b="0" i="0">
                <a:solidFill>
                  <a:srgbClr val="B8B49C"/>
                </a:solidFill>
                <a:latin typeface="Segoe UI"/>
              </a:rPr>
              <a:t>① ИТОГ — уровень давления   →   ② КОГДА И КТО — картина сезона   →   ③ ПОЧЕМУ — драйверы</a:t>
            </a:r>
          </a:p>
        </p:txBody>
      </p:sp>
      <p:pic>
        <p:nvPicPr>
          <p:cNvPr id="6" name="Picture 5" descr="das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77" y="1298448"/>
            <a:ext cx="827719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1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0000"/>
          </a:xfrm>
          <a:prstGeom prst="rect">
            <a:avLst/>
          </a:prstGeom>
          <a:solidFill>
            <a:srgbClr val="D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2EFE0"/>
                </a:solidFill>
                <a:latin typeface="Segoe UI"/>
              </a:rPr>
              <a:t>🚜 Техника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8B44A"/>
                </a:solidFill>
                <a:latin typeface="Segoe UI"/>
              </a:rPr>
              <a:t>❓ Как отработала техника — покрытие, скорость, простои?   </a:t>
            </a:r>
            <a:r>
              <a:rPr sz="1250" b="0" i="0">
                <a:solidFill>
                  <a:srgbClr val="B8B49C"/>
                </a:solidFill>
                <a:latin typeface="Segoe UI"/>
              </a:rPr>
              <a:t>① ИТОГ — выработка   →   ② ГДЕ — треки на карте   →   ③ ДЕТАЛИ — режим + журнал</a:t>
            </a:r>
          </a:p>
        </p:txBody>
      </p:sp>
      <p:pic>
        <p:nvPicPr>
          <p:cNvPr id="6" name="Picture 5" descr="das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125" y="1298448"/>
            <a:ext cx="557070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EFE0"/>
                </a:solidFill>
                <a:latin typeface="Segoe UI"/>
              </a:rPr>
              <a:t>Что покупает хозяйство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5257800" cy="137160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45336"/>
            <a:ext cx="48554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8B44A"/>
                </a:solidFill>
                <a:latin typeface="Segoe UI"/>
              </a:rPr>
              <a:t>Не графики, а решения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B49C"/>
                </a:solidFill>
                <a:latin typeface="Segoe UI"/>
              </a:rPr>
              <a:t>Блок «Уровень угрозы → Рекомендация → Обоснование» ежедневно превращает 30 показателей в один ответ: что делать на поле сегодня.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5257800" cy="137160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545336"/>
            <a:ext cx="48554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8B44A"/>
                </a:solidFill>
                <a:latin typeface="Segoe UI"/>
              </a:rPr>
              <a:t>Деньги под контролем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B49C"/>
                </a:solidFill>
                <a:latin typeface="Segoe UI"/>
              </a:rPr>
              <a:t>Прогноз урожайности в т/га, обновляемый каждый день, — основа для контрактов, логистики уборки и разговора с банком.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90088"/>
            <a:ext cx="5257800" cy="137160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118104"/>
            <a:ext cx="48554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8B44A"/>
                </a:solidFill>
                <a:latin typeface="Segoe UI"/>
              </a:rPr>
              <a:t>Обработки по прогнозу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B49C"/>
                </a:solidFill>
                <a:latin typeface="Segoe UI"/>
              </a:rPr>
              <a:t>Связка «влажность + фаза → вспышка» позволяет опрыскивать до поражения. Одна предотвращённая вспышка окупает сезон мониторинга.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990088"/>
            <a:ext cx="5257800" cy="137160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3118104"/>
            <a:ext cx="48554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8B44A"/>
                </a:solidFill>
                <a:latin typeface="Segoe UI"/>
              </a:rPr>
              <a:t>Техника без приписок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B49C"/>
                </a:solidFill>
                <a:latin typeface="Segoe UI"/>
              </a:rPr>
              <a:t>GPS-треки, скорость и статусы — объективная приёмка работ, учёт ГСМ и простоев.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62856"/>
            <a:ext cx="5257800" cy="137160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690872"/>
            <a:ext cx="48554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8B44A"/>
                </a:solidFill>
                <a:latin typeface="Segoe UI"/>
              </a:rPr>
              <a:t>Готовность к real-time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B49C"/>
                </a:solidFill>
                <a:latin typeface="Segoe UI"/>
              </a:rPr>
              <a:t>Датчики (метеостанция, почвенный зонд LoRaWAN, ловушки, GPS-трекеры) подключаются без переделки экранов.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562856"/>
            <a:ext cx="5257800" cy="1371600"/>
          </a:xfrm>
          <a:prstGeom prst="rect">
            <a:avLst/>
          </a:prstGeom>
          <a:solidFill>
            <a:srgbClr val="1D1E15"/>
          </a:solidFill>
          <a:ln w="12700">
            <a:solidFill>
              <a:srgbClr val="33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690872"/>
            <a:ext cx="48554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8B44A"/>
                </a:solidFill>
                <a:latin typeface="Segoe UI"/>
              </a:rPr>
              <a:t>Открытый стек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B49C"/>
                </a:solidFill>
                <a:latin typeface="Segoe UI"/>
              </a:rPr>
              <a:t>Grafana + InfluxDB, без абонентской ренты. Запуск одной командой, система принадлежит хозяйству.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